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5" r:id="rId5"/>
    <p:sldId id="278" r:id="rId6"/>
    <p:sldId id="281" r:id="rId7"/>
    <p:sldId id="279" r:id="rId8"/>
    <p:sldId id="262" r:id="rId9"/>
    <p:sldId id="286" r:id="rId10"/>
    <p:sldId id="287" r:id="rId11"/>
    <p:sldId id="280" r:id="rId12"/>
    <p:sldId id="288" r:id="rId13"/>
    <p:sldId id="289"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952547987"/>
              </p:ext>
            </p:extLst>
          </p:nvPr>
        </p:nvGraphicFramePr>
        <p:xfrm>
          <a:off x="690625" y="2271253"/>
          <a:ext cx="10999929" cy="2778268"/>
        </p:xfrm>
        <a:graphic>
          <a:graphicData uri="http://schemas.openxmlformats.org/drawingml/2006/table">
            <a:tbl>
              <a:tblPr>
                <a:noFill/>
                <a:tableStyleId>{0AAD8F4D-43EB-41E5-8A38-28AB6DFB1B60}</a:tableStyleId>
              </a:tblPr>
              <a:tblGrid>
                <a:gridCol w="2887848">
                  <a:extLst>
                    <a:ext uri="{9D8B030D-6E8A-4147-A177-3AD203B41FA5}">
                      <a16:colId xmlns:a16="http://schemas.microsoft.com/office/drawing/2014/main" val="20000"/>
                    </a:ext>
                  </a:extLst>
                </a:gridCol>
                <a:gridCol w="2359939">
                  <a:extLst>
                    <a:ext uri="{9D8B030D-6E8A-4147-A177-3AD203B41FA5}">
                      <a16:colId xmlns:a16="http://schemas.microsoft.com/office/drawing/2014/main" val="20002"/>
                    </a:ext>
                  </a:extLst>
                </a:gridCol>
                <a:gridCol w="3608711">
                  <a:extLst>
                    <a:ext uri="{9D8B030D-6E8A-4147-A177-3AD203B41FA5}">
                      <a16:colId xmlns:a16="http://schemas.microsoft.com/office/drawing/2014/main" val="20003"/>
                    </a:ext>
                  </a:extLst>
                </a:gridCol>
                <a:gridCol w="2143431">
                  <a:extLst>
                    <a:ext uri="{9D8B030D-6E8A-4147-A177-3AD203B41FA5}">
                      <a16:colId xmlns:a16="http://schemas.microsoft.com/office/drawing/2014/main" val="20004"/>
                    </a:ext>
                  </a:extLst>
                </a:gridCol>
              </a:tblGrid>
              <a:tr h="1103996">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74272">
                <a:tc>
                  <a:txBody>
                    <a:bodyPr/>
                    <a:lstStyle/>
                    <a:p>
                      <a:pPr marL="0" marR="0" lvl="0" indent="0" algn="l" rtl="0">
                        <a:spcBef>
                          <a:spcPts val="0"/>
                        </a:spcBef>
                        <a:spcAft>
                          <a:spcPts val="0"/>
                        </a:spcAft>
                        <a:buNone/>
                      </a:pPr>
                      <a:r>
                        <a:rPr lang="en-US" dirty="0"/>
                        <a:t> </a:t>
                      </a:r>
                      <a:r>
                        <a:rPr lang="en-US" sz="2000" dirty="0"/>
                        <a:t>ANUGRAHA P A</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anugrahapa2001@gmail.com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a:t>    7306283746</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102321" y="1031796"/>
            <a:ext cx="10280254" cy="523220"/>
          </a:xfrm>
          <a:prstGeom prst="rect">
            <a:avLst/>
          </a:prstGeom>
          <a:noFill/>
        </p:spPr>
        <p:txBody>
          <a:bodyPr wrap="square" rtlCol="0">
            <a:spAutoFit/>
          </a:bodyPr>
          <a:lstStyle/>
          <a:p>
            <a:r>
              <a:rPr lang="en-US" sz="2800" b="1" dirty="0"/>
              <a:t>Domain of  Project </a:t>
            </a:r>
            <a:r>
              <a:rPr lang="en-US" sz="2400" b="1" dirty="0"/>
              <a:t>– </a:t>
            </a:r>
            <a:r>
              <a:rPr lang="en-US" sz="2800" b="1" dirty="0"/>
              <a:t>HEALTH CARE</a:t>
            </a:r>
            <a:endParaRPr lang="en-IN" sz="28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102321" y="484899"/>
            <a:ext cx="9581177" cy="523220"/>
          </a:xfrm>
          <a:prstGeom prst="rect">
            <a:avLst/>
          </a:prstGeom>
          <a:noFill/>
        </p:spPr>
        <p:txBody>
          <a:bodyPr wrap="square" rtlCol="0">
            <a:spAutoFit/>
          </a:bodyPr>
          <a:lstStyle/>
          <a:p>
            <a:r>
              <a:rPr lang="en-US" sz="2800" b="1" dirty="0"/>
              <a:t>Project Title </a:t>
            </a:r>
            <a:r>
              <a:rPr lang="en-US" sz="2400" b="1" dirty="0"/>
              <a:t>– </a:t>
            </a:r>
            <a:r>
              <a:rPr lang="en-US" sz="2800" b="1" dirty="0">
                <a:solidFill>
                  <a:schemeClr val="accent1">
                    <a:lumMod val="50000"/>
                  </a:schemeClr>
                </a:solidFill>
              </a:rPr>
              <a:t>NUTRITION AGENT</a:t>
            </a:r>
            <a:endParaRPr lang="en-IN" sz="2800" b="1" dirty="0">
              <a:solidFill>
                <a:schemeClr val="accent1">
                  <a:lumMod val="50000"/>
                </a:schemeClr>
              </a:solidFill>
            </a:endParaRPr>
          </a:p>
        </p:txBody>
      </p:sp>
      <p:pic>
        <p:nvPicPr>
          <p:cNvPr id="5" name="Picture 4">
            <a:extLst>
              <a:ext uri="{FF2B5EF4-FFF2-40B4-BE49-F238E27FC236}">
                <a16:creationId xmlns:a16="http://schemas.microsoft.com/office/drawing/2014/main" id="{E31FABCD-DA80-64CB-24FE-500C678EDBE1}"/>
              </a:ext>
            </a:extLst>
          </p:cNvPr>
          <p:cNvPicPr>
            <a:picLocks noChangeAspect="1"/>
          </p:cNvPicPr>
          <p:nvPr/>
        </p:nvPicPr>
        <p:blipFill>
          <a:blip r:embed="rId3"/>
          <a:stretch>
            <a:fillRect/>
          </a:stretch>
        </p:blipFill>
        <p:spPr>
          <a:xfrm>
            <a:off x="4167882" y="3569110"/>
            <a:ext cx="1113260" cy="11983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90704" y="566678"/>
            <a:ext cx="10607040" cy="6063198"/>
          </a:xfrm>
          <a:prstGeom prst="rect">
            <a:avLst/>
          </a:prstGeom>
          <a:noFill/>
        </p:spPr>
        <p:txBody>
          <a:bodyPr wrap="square" rtlCol="0">
            <a:spAutoFit/>
          </a:bodyPr>
          <a:lstStyle/>
          <a:p>
            <a:pPr fontAlgn="base"/>
            <a:r>
              <a:rPr lang="en-US" sz="2800" b="1" dirty="0">
                <a:solidFill>
                  <a:schemeClr val="accent1">
                    <a:lumMod val="50000"/>
                  </a:schemeClr>
                </a:solidFill>
              </a:rPr>
              <a:t>Problem Statement : Nutrition Agent</a:t>
            </a:r>
            <a:r>
              <a:rPr lang="en-US" sz="2800" dirty="0">
                <a:solidFill>
                  <a:schemeClr val="accent1">
                    <a:lumMod val="50000"/>
                  </a:schemeClr>
                </a:solidFill>
              </a:rPr>
              <a:t> </a:t>
            </a:r>
          </a:p>
          <a:p>
            <a:pPr fontAlgn="base"/>
            <a:endParaRPr lang="en-US" sz="2000"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a:t>
            </a:r>
            <a:r>
              <a:rPr lang="en-US" sz="2000" dirty="0"/>
              <a:t>iciencies, and progress toward health goals. </a:t>
            </a:r>
          </a:p>
          <a:p>
            <a:pPr fontAlgn="base"/>
            <a:endParaRPr lang="en-US" sz="2000" dirty="0"/>
          </a:p>
          <a:p>
            <a:endParaRPr lang="en-IN"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solidFill>
                  <a:schemeClr val="accent1">
                    <a:lumMod val="50000"/>
                  </a:schemeClr>
                </a:solidFill>
              </a:rPr>
              <a:t>Proposed Solution </a:t>
            </a:r>
            <a:r>
              <a:rPr lang="en-US" sz="2400" b="1" dirty="0"/>
              <a:t>-</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523220"/>
          </a:xfrm>
          <a:prstGeom prst="rect">
            <a:avLst/>
          </a:prstGeom>
          <a:noFill/>
        </p:spPr>
        <p:txBody>
          <a:bodyPr wrap="square" lIns="91440" tIns="45720" rIns="91440" bIns="45720" rtlCol="0" anchor="t">
            <a:spAutoFit/>
          </a:bodyPr>
          <a:lstStyle/>
          <a:p>
            <a:r>
              <a:rPr lang="en-US" sz="2800" b="1" dirty="0">
                <a:solidFill>
                  <a:schemeClr val="accent1">
                    <a:lumMod val="50000"/>
                  </a:schemeClr>
                </a:solidFill>
              </a:rPr>
              <a:t>Technology Used</a:t>
            </a:r>
            <a:endParaRPr lang="en-IN" sz="2800" b="1" dirty="0">
              <a:solidFill>
                <a:schemeClr val="accent1">
                  <a:lumMod val="50000"/>
                </a:schemeClr>
              </a:solidFill>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524863"/>
          </a:xfrm>
          <a:prstGeom prst="rect">
            <a:avLst/>
          </a:prstGeom>
          <a:noFill/>
        </p:spPr>
        <p:txBody>
          <a:bodyPr wrap="square" rtlCol="0">
            <a:spAutoFit/>
          </a:bodyPr>
          <a:lstStyle/>
          <a:p>
            <a:endParaRPr lang="en-US" dirty="0"/>
          </a:p>
          <a:p>
            <a:r>
              <a:rPr lang="en-US" sz="2000" b="1" dirty="0"/>
              <a:t>1) Chat Input </a:t>
            </a:r>
            <a:r>
              <a:rPr lang="en-US" sz="2000" dirty="0"/>
              <a:t>– Interface where users enter their queries, preferences, or meal details (text/voice/image).</a:t>
            </a:r>
          </a:p>
          <a:p>
            <a:endParaRPr lang="en-US" sz="2000" dirty="0"/>
          </a:p>
          <a:p>
            <a:r>
              <a:rPr lang="en-US" sz="2000" b="1" dirty="0"/>
              <a:t>2) IBM </a:t>
            </a:r>
            <a:r>
              <a:rPr lang="en-US" sz="2000" b="1" dirty="0" err="1"/>
              <a:t>watsonx</a:t>
            </a:r>
            <a:r>
              <a:rPr lang="en-US" sz="2000" b="1" dirty="0"/>
              <a:t> AI Agent </a:t>
            </a:r>
            <a:r>
              <a:rPr lang="en-US" sz="2000" dirty="0"/>
              <a:t>- Processes user input using Granite models to generate personalized nutrition insights and recommendations. </a:t>
            </a:r>
          </a:p>
          <a:p>
            <a:endParaRPr lang="en-US" sz="2000" dirty="0"/>
          </a:p>
          <a:p>
            <a:r>
              <a:rPr lang="en-US" sz="2000" b="1" dirty="0"/>
              <a:t>3) Name of IBM Granite model - </a:t>
            </a:r>
            <a:r>
              <a:rPr lang="en-US" sz="2000" dirty="0"/>
              <a:t>Granite-4.0-8B-Instruct → Fast, efficient for real-time diet recommendations</a:t>
            </a:r>
          </a:p>
          <a:p>
            <a:endParaRPr lang="en-US" sz="2000" dirty="0"/>
          </a:p>
          <a:p>
            <a:r>
              <a:rPr lang="en-US" sz="2000" b="1" dirty="0"/>
              <a:t>4) Chat output -</a:t>
            </a:r>
            <a:r>
              <a:rPr lang="en-US" sz="2000" dirty="0"/>
              <a:t>Displays AI-generated responses such as diet plans, nutritional analysis, and health suggestions. </a:t>
            </a:r>
          </a:p>
          <a:p>
            <a:endParaRPr lang="en-US" sz="2000" dirty="0"/>
          </a:p>
          <a:p>
            <a:r>
              <a:rPr lang="en-US" sz="2000" b="1" dirty="0"/>
              <a:t>5) File component - </a:t>
            </a:r>
            <a:r>
              <a:rPr lang="en-US" sz="2000" dirty="0"/>
              <a:t>Stores and retrieves user data, meal logs, and nutritional datasets for analysis and tracking.</a:t>
            </a:r>
          </a:p>
          <a:p>
            <a:endParaRPr lang="en-US" sz="2000" dirty="0"/>
          </a:p>
          <a:p>
            <a:endParaRPr lang="en-US" sz="2000"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a:solidFill>
                  <a:schemeClr val="accent1">
                    <a:lumMod val="50000"/>
                  </a:schemeClr>
                </a:solidFill>
                <a:latin typeface="Times New Roman"/>
                <a:ea typeface="Times New Roman"/>
                <a:cs typeface="Times New Roman"/>
                <a:sym typeface="Times New Roman"/>
              </a:rPr>
              <a:t>Block Diagram</a:t>
            </a:r>
            <a:r>
              <a:rPr lang="en-US" sz="2800" b="1" dirty="0">
                <a:solidFill>
                  <a:schemeClr val="accent1">
                    <a:lumMod val="50000"/>
                  </a:schemeClr>
                </a:solidFill>
                <a:sym typeface="Times New Roman"/>
              </a:rPr>
              <a:t> </a:t>
            </a:r>
            <a:endParaRPr sz="2800" b="1" dirty="0">
              <a:solidFill>
                <a:schemeClr val="accent1">
                  <a:lumMod val="50000"/>
                </a:schemeClr>
              </a:solidFill>
              <a:sym typeface="Times New Roman"/>
            </a:endParaRPr>
          </a:p>
        </p:txBody>
      </p:sp>
      <p:pic>
        <p:nvPicPr>
          <p:cNvPr id="5" name="Picture 4">
            <a:extLst>
              <a:ext uri="{FF2B5EF4-FFF2-40B4-BE49-F238E27FC236}">
                <a16:creationId xmlns:a16="http://schemas.microsoft.com/office/drawing/2014/main" id="{C035E853-B405-1B1B-4833-71C27CBBCA95}"/>
              </a:ext>
            </a:extLst>
          </p:cNvPr>
          <p:cNvPicPr>
            <a:picLocks noChangeAspect="1"/>
          </p:cNvPicPr>
          <p:nvPr/>
        </p:nvPicPr>
        <p:blipFill>
          <a:blip r:embed="rId3"/>
          <a:srcRect t="8665"/>
          <a:stretch>
            <a:fillRect/>
          </a:stretch>
        </p:blipFill>
        <p:spPr>
          <a:xfrm>
            <a:off x="1040991" y="1425677"/>
            <a:ext cx="10287000" cy="496160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800" b="1">
                <a:solidFill>
                  <a:schemeClr val="accent1">
                    <a:lumMod val="50000"/>
                  </a:schemeClr>
                </a:solidFill>
                <a:latin typeface="Calibri"/>
                <a:ea typeface="Calibri"/>
                <a:cs typeface="Calibri"/>
                <a:sym typeface="Calibri"/>
              </a:rPr>
              <a:t>Architecture blueprint</a:t>
            </a:r>
            <a:endParaRPr lang="en-US" sz="2800" dirty="0">
              <a:solidFill>
                <a:schemeClr val="accent1">
                  <a:lumMod val="50000"/>
                </a:schemeClr>
              </a:solidFill>
            </a:endParaRPr>
          </a:p>
        </p:txBody>
      </p:sp>
      <p:pic>
        <p:nvPicPr>
          <p:cNvPr id="5" name="Picture 4">
            <a:extLst>
              <a:ext uri="{FF2B5EF4-FFF2-40B4-BE49-F238E27FC236}">
                <a16:creationId xmlns:a16="http://schemas.microsoft.com/office/drawing/2014/main" id="{3EA15FE7-2349-9096-8858-8BF42ADB44B1}"/>
              </a:ext>
            </a:extLst>
          </p:cNvPr>
          <p:cNvPicPr>
            <a:picLocks noChangeAspect="1"/>
          </p:cNvPicPr>
          <p:nvPr/>
        </p:nvPicPr>
        <p:blipFill>
          <a:blip r:embed="rId3"/>
          <a:stretch>
            <a:fillRect/>
          </a:stretch>
        </p:blipFill>
        <p:spPr>
          <a:xfrm>
            <a:off x="1023620" y="876296"/>
            <a:ext cx="10287000" cy="565846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solidFill>
                  <a:schemeClr val="accent1">
                    <a:lumMod val="50000"/>
                  </a:schemeClr>
                </a:solidFill>
              </a:rPr>
              <a:t>Novelty and Uniqueness</a:t>
            </a:r>
            <a:endParaRPr lang="en-IN" sz="2400" b="1" dirty="0">
              <a:solidFill>
                <a:schemeClr val="accent1">
                  <a:lumMod val="50000"/>
                </a:schemeClr>
              </a:solidFill>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405537" y="586482"/>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olidFill>
                  <a:schemeClr val="accent1">
                    <a:lumMod val="50000"/>
                  </a:schemeClr>
                </a:solidFill>
                <a:sym typeface="Times New Roman"/>
              </a:rPr>
              <a:t>Git Hub Link</a:t>
            </a:r>
            <a:endParaRPr sz="2400" b="1" dirty="0">
              <a:solidFill>
                <a:schemeClr val="accent1">
                  <a:lumMod val="50000"/>
                </a:schemeClr>
              </a:solidFill>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2644402" y="1290499"/>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err="1">
                <a:solidFill>
                  <a:srgbClr val="2B3541"/>
                </a:solidFill>
                <a:latin typeface="+mj-lt"/>
                <a:ea typeface="Times New Roman"/>
                <a:cs typeface="Times New Roman"/>
                <a:sym typeface="Times New Roman"/>
              </a:rPr>
              <a:t>Github</a:t>
            </a:r>
            <a:r>
              <a:rPr lang="en-US" sz="2000" dirty="0">
                <a:solidFill>
                  <a:srgbClr val="2B3541"/>
                </a:solidFill>
                <a:latin typeface="+mj-lt"/>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–https://github.com/anugraha-das/nutrition-agent-ibm.git</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olidFill>
                  <a:schemeClr val="accent1">
                    <a:lumMod val="50000"/>
                  </a:schemeClr>
                </a:solidFill>
                <a:sym typeface="Times New Roman"/>
              </a:rPr>
              <a:t>Future Scope </a:t>
            </a:r>
            <a:endParaRPr sz="2800" b="1" dirty="0">
              <a:solidFill>
                <a:schemeClr val="accent1">
                  <a:lumMod val="50000"/>
                </a:schemeClr>
              </a:solidFill>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2000" b="1" dirty="0">
                <a:solidFill>
                  <a:srgbClr val="2B3541"/>
                </a:solidFill>
                <a:latin typeface="Times New Roman"/>
                <a:ea typeface="Times New Roman"/>
                <a:cs typeface="Times New Roman"/>
                <a:sym typeface="Times New Roman"/>
              </a:rPr>
              <a:t>2.</a:t>
            </a:r>
            <a:r>
              <a:rPr lang="en-US" sz="200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200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 name="TextBox 5">
            <a:extLst>
              <a:ext uri="{FF2B5EF4-FFF2-40B4-BE49-F238E27FC236}">
                <a16:creationId xmlns:a16="http://schemas.microsoft.com/office/drawing/2014/main" id="{3F1C7BCA-5DD7-F4D3-A937-D1C56976DA01}"/>
              </a:ext>
            </a:extLst>
          </p:cNvPr>
          <p:cNvSpPr txBox="1"/>
          <p:nvPr/>
        </p:nvSpPr>
        <p:spPr>
          <a:xfrm>
            <a:off x="874815" y="798703"/>
            <a:ext cx="5221185" cy="3072015"/>
          </a:xfrm>
          <a:prstGeom prst="rect">
            <a:avLst/>
          </a:prstGeom>
        </p:spPr>
        <p:txBody>
          <a:bodyPr rot="0" spcFirstLastPara="0" vertOverflow="overflow" horzOverflow="overflow" vert="horz" lIns="91440" tIns="45720" rIns="91440" bIns="45720" numCol="1" spcCol="0" rtlCol="0" fromWordArt="0" anchor="b" anchorCtr="0" forceAA="0" compatLnSpc="1">
            <a:prstTxWarp prst="textNoShape">
              <a:avLst/>
            </a:prstTxWarp>
            <a:normAutofit/>
          </a:bodyPr>
          <a:lstStyle/>
          <a:p>
            <a:pPr algn="ctr">
              <a:lnSpc>
                <a:spcPct val="90000"/>
              </a:lnSpc>
              <a:spcBef>
                <a:spcPct val="0"/>
              </a:spcBef>
              <a:spcAft>
                <a:spcPts val="600"/>
              </a:spcAft>
            </a:pPr>
            <a:r>
              <a:rPr lang="en-US" sz="6000" b="1" kern="1200">
                <a:solidFill>
                  <a:schemeClr val="tx1"/>
                </a:solidFill>
                <a:latin typeface="+mj-lt"/>
                <a:ea typeface="+mj-ea"/>
                <a:cs typeface="+mj-cs"/>
              </a:rPr>
              <a:t>Certificates Earned:</a:t>
            </a:r>
          </a:p>
          <a:p>
            <a:pPr algn="ctr">
              <a:lnSpc>
                <a:spcPct val="90000"/>
              </a:lnSpc>
              <a:spcBef>
                <a:spcPct val="0"/>
              </a:spcBef>
              <a:spcAft>
                <a:spcPts val="600"/>
              </a:spcAft>
            </a:pPr>
            <a:endParaRPr lang="en-US" sz="6000" kern="1200">
              <a:solidFill>
                <a:schemeClr val="tx1"/>
              </a:solidFill>
              <a:latin typeface="+mj-lt"/>
              <a:ea typeface="+mj-ea"/>
              <a:cs typeface="+mj-cs"/>
            </a:endParaRPr>
          </a:p>
        </p:txBody>
      </p:sp>
      <p:sp>
        <p:nvSpPr>
          <p:cNvPr id="24" name="Freeform: Shape 2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A90156F5-DE5C-1CF1-28A0-C218BBBCCDED}"/>
              </a:ext>
            </a:extLst>
          </p:cNvPr>
          <p:cNvPicPr>
            <a:picLocks noChangeAspect="1"/>
          </p:cNvPicPr>
          <p:nvPr/>
        </p:nvPicPr>
        <p:blipFill>
          <a:blip r:embed="rId2"/>
          <a:stretch>
            <a:fillRect/>
          </a:stretch>
        </p:blipFill>
        <p:spPr>
          <a:xfrm>
            <a:off x="6651243" y="1329643"/>
            <a:ext cx="4939504" cy="3815766"/>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7" name="Freeform: Shape 16">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3" name="Freeform: Shape 22">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29047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A8544A9-CF92-3FAF-D3EE-31DF90F7A64D}"/>
              </a:ext>
            </a:extLst>
          </p:cNvPr>
          <p:cNvSpPr txBox="1"/>
          <p:nvPr/>
        </p:nvSpPr>
        <p:spPr>
          <a:xfrm>
            <a:off x="1113810" y="2960716"/>
            <a:ext cx="4036334" cy="238760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nSpc>
                <a:spcPct val="90000"/>
              </a:lnSpc>
              <a:spcBef>
                <a:spcPct val="0"/>
              </a:spcBef>
              <a:spcAft>
                <a:spcPts val="600"/>
              </a:spcAft>
            </a:pPr>
            <a:r>
              <a:rPr lang="en-US" sz="5400" b="1" i="0" u="none" strike="noStrike" kern="1200" baseline="0">
                <a:solidFill>
                  <a:schemeClr val="tx1"/>
                </a:solidFill>
                <a:latin typeface="+mj-lt"/>
                <a:ea typeface="+mj-ea"/>
                <a:cs typeface="+mj-cs"/>
              </a:rPr>
              <a:t>Certificates Earned:</a:t>
            </a:r>
            <a:r>
              <a:rPr lang="en-US" sz="5400" b="0" i="0" kern="1200">
                <a:solidFill>
                  <a:schemeClr val="tx1"/>
                </a:solidFill>
                <a:latin typeface="+mj-lt"/>
                <a:ea typeface="+mj-ea"/>
                <a:cs typeface="+mj-cs"/>
              </a:rPr>
              <a:t>​</a:t>
            </a:r>
            <a:endParaRPr lang="en-US" sz="5400" kern="1200">
              <a:solidFill>
                <a:schemeClr val="tx1"/>
              </a:solidFill>
              <a:latin typeface="+mj-lt"/>
              <a:ea typeface="+mj-ea"/>
              <a:cs typeface="+mj-cs"/>
            </a:endParaRPr>
          </a:p>
          <a:p>
            <a:pPr>
              <a:lnSpc>
                <a:spcPct val="90000"/>
              </a:lnSpc>
              <a:spcBef>
                <a:spcPct val="0"/>
              </a:spcBef>
              <a:spcAft>
                <a:spcPts val="600"/>
              </a:spcAft>
            </a:pPr>
            <a:endParaRPr lang="en-US" sz="5400" kern="1200">
              <a:solidFill>
                <a:schemeClr val="tx1"/>
              </a:solidFill>
              <a:latin typeface="+mj-lt"/>
              <a:ea typeface="+mj-ea"/>
              <a:cs typeface="+mj-cs"/>
            </a:endParaRPr>
          </a:p>
        </p:txBody>
      </p:sp>
      <p:grpSp>
        <p:nvGrpSpPr>
          <p:cNvPr id="18" name="Group 17">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AE7D9DE-09AA-324E-CBA0-F86466FD961D}"/>
              </a:ext>
            </a:extLst>
          </p:cNvPr>
          <p:cNvPicPr>
            <a:picLocks noChangeAspect="1"/>
          </p:cNvPicPr>
          <p:nvPr/>
        </p:nvPicPr>
        <p:blipFill>
          <a:blip r:embed="rId2"/>
          <a:stretch>
            <a:fillRect/>
          </a:stretch>
        </p:blipFill>
        <p:spPr>
          <a:xfrm>
            <a:off x="5810426" y="1441263"/>
            <a:ext cx="5658227" cy="391672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50661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06"/>
        <p:cNvGrpSpPr/>
        <p:nvPr/>
      </p:nvGrpSpPr>
      <p:grpSpPr>
        <a:xfrm>
          <a:off x="0" y="0"/>
          <a:ext cx="0" cy="0"/>
          <a:chOff x="0" y="0"/>
          <a:chExt cx="0" cy="0"/>
        </a:xfrm>
      </p:grpSpPr>
      <p:sp>
        <p:nvSpPr>
          <p:cNvPr id="315" name="Rectangle 314">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7" name="Freeform: Shape 316">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9" name="Rectangle 318">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Freeform: Shape 322">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5" name="Isosceles Triangle 324">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0" name="Google Shape;310;p20"/>
          <p:cNvPicPr preferRelativeResize="0"/>
          <p:nvPr/>
        </p:nvPicPr>
        <p:blipFill rotWithShape="1">
          <a:blip r:embed="rId3"/>
          <a:stretch/>
        </p:blipFill>
        <p:spPr>
          <a:xfrm>
            <a:off x="643467" y="2321053"/>
            <a:ext cx="10905066" cy="2215892"/>
          </a:xfrm>
          <a:prstGeom prst="rect">
            <a:avLst/>
          </a:prstGeom>
          <a:noFill/>
          <a:ln>
            <a:noFill/>
          </a:ln>
        </p:spPr>
      </p:pic>
      <p:sp>
        <p:nvSpPr>
          <p:cNvPr id="327" name="Isosceles Triangle 326">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1134</Words>
  <Application>Microsoft Office PowerPoint</Application>
  <PresentationFormat>Widescreen</PresentationFormat>
  <Paragraphs>105</Paragraphs>
  <Slides>14</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Anugraha P A</cp:lastModifiedBy>
  <cp:revision>16</cp:revision>
  <dcterms:created xsi:type="dcterms:W3CDTF">2025-07-08T05:06:56Z</dcterms:created>
  <dcterms:modified xsi:type="dcterms:W3CDTF">2026-07-08T09:48:40Z</dcterms:modified>
</cp:coreProperties>
</file>